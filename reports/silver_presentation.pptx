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Annualised Volatility by Period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Annual Volatility (%)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2001-05</c:v>
                  </c:pt>
                  <c:pt idx="1">
                    <c:v>2006-10</c:v>
                  </c:pt>
                  <c:pt idx="2">
                    <c:v>2011-15</c:v>
                  </c:pt>
                  <c:pt idx="3">
                    <c:v>2016-20</c:v>
                  </c:pt>
                  <c:pt idx="4">
                    <c:v>2021-25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32</c:v>
                </c:pt>
                <c:pt idx="2">
                  <c:v>28</c:v>
                </c:pt>
                <c:pt idx="3">
                  <c:v>22</c:v>
                </c:pt>
                <c:pt idx="4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Silver Price — Hunt Brothers Period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Silver Price (USD)</c:v>
                </c:pt>
              </c:strCache>
            </c:strRef>
          </c:tx>
          <c:spPr>
            <a:solidFill>
              <a:srgbClr val="1F4E79"/>
            </a:solidFill>
            <a:ln w="381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 79</c:v>
                  </c:pt>
                  <c:pt idx="1">
                    <c:v>Mar 79</c:v>
                  </c:pt>
                  <c:pt idx="2">
                    <c:v>Jun 79</c:v>
                  </c:pt>
                  <c:pt idx="3">
                    <c:v>Sep 79</c:v>
                  </c:pt>
                  <c:pt idx="4">
                    <c:v>Dec 79</c:v>
                  </c:pt>
                  <c:pt idx="5">
                    <c:v>Jan 80</c:v>
                  </c:pt>
                  <c:pt idx="6">
                    <c:v>Mar 80</c:v>
                  </c:pt>
                  <c:pt idx="7">
                    <c:v>Jun 80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8</c:v>
                </c:pt>
                <c:pt idx="2">
                  <c:v>10</c:v>
                </c:pt>
                <c:pt idx="3">
                  <c:v>14</c:v>
                </c:pt>
                <c:pt idx="4">
                  <c:v>25</c:v>
                </c:pt>
                <c:pt idx="5">
                  <c:v>49</c:v>
                </c:pt>
                <c:pt idx="6">
                  <c:v>21</c:v>
                </c:pt>
                <c:pt idx="7">
                  <c:v>11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Silver Price — 2020 Monthly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Silver Price (USD)</c:v>
                </c:pt>
              </c:strCache>
            </c:strRef>
          </c:tx>
          <c:spPr>
            <a:solidFill>
              <a:srgbClr val="1F4E79"/>
            </a:solidFill>
            <a:ln w="381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18.77</c:v>
                </c:pt>
                <c:pt idx="1">
                  <c:v>17.9</c:v>
                </c:pt>
                <c:pt idx="2">
                  <c:v>11.7</c:v>
                </c:pt>
                <c:pt idx="3">
                  <c:v>15.2</c:v>
                </c:pt>
                <c:pt idx="4">
                  <c:v>16.8</c:v>
                </c:pt>
                <c:pt idx="5">
                  <c:v>17.5</c:v>
                </c:pt>
                <c:pt idx="6">
                  <c:v>19.6</c:v>
                </c:pt>
                <c:pt idx="7">
                  <c:v>29.64</c:v>
                </c:pt>
                <c:pt idx="8">
                  <c:v>26.5</c:v>
                </c:pt>
                <c:pt idx="9">
                  <c:v>24.8</c:v>
                </c:pt>
                <c:pt idx="10">
                  <c:v>23.1</c:v>
                </c:pt>
                <c:pt idx="11">
                  <c:v>24.83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COMMODITY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2025  |  BFSI Data Analytics Internship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End-to-End Analytics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Zetheta Algorithms Pvt. Ltd.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005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556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Architecture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5054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2552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(17+ DAX Measures)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0050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Results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005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Walkthrough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755648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7556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Hunt Brothers &amp; COVID-19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505456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25054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Code Quality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255264"/>
            <a:ext cx="502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32552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Limitations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6,783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 Years)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9202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1460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1097280"/>
            <a:ext cx="19202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81228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an end-to-end analytics pipeline — from raw CSV ingestion through ML modelling, ensemble forecasting, and Power BI dashboard — enabling actionable insights on silver price dynamics, risk regimes, and short-term forecasts.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09728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00200" y="1005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silver_daily_ohlcv_2000_2025.csv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66360" y="1005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6,783 rows | Daily prices, volume, returns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09728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silver_futures_contracts.csv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Basis, open interest, COT positioning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109728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silver_macroeconomic_indicators.csv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rate, CPI, DXY, gold prices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109728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337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337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silver_sentiment_weekly.csv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Trends, CFTC COT weekly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109728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Supply/Demand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4114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silver_supply_demand.csv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production, industrial &amp; investment demand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23444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37360" y="1371600"/>
            <a:ext cx="1234440" cy="64008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0360" y="13716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1234440" cy="6400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13716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234440" cy="64008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3716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1234440" cy="64008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13716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89520" y="1371600"/>
            <a:ext cx="1234440" cy="640080"/>
          </a:xfrm>
          <a:prstGeom prst="rect">
            <a:avLst/>
          </a:prstGeom>
          <a:solidFill>
            <a:srgbClr val="1F7A1F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1031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CSVs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6,783 rows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21031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nulls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align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1031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SMA, RSI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ATR, VWAP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Drawdown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1031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1031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1031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DAX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94960" y="1005840"/>
            <a:ext cx="3474720" cy="105156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5" name="Text 2"/>
          <p:cNvSpPr/>
          <p:nvPr/>
        </p:nvSpPr>
        <p:spPr>
          <a:xfrm>
            <a:off x="5394960" y="100584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price regimes identified: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2000–07 Accumulation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2008–12 Supercycle Peak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2013–25 Consolidation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94960" y="2240280"/>
            <a:ext cx="3474720" cy="105156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224028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$49.45 (Jan 2011)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Crash: $11.70 (Mar 2020)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$5.19 – $49.45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4960" y="3474720"/>
            <a:ext cx="3474720" cy="105156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34747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volatility: 25–35%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gold 15–18%)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= higher risk/reward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DAX Measures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Measures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Current_Price  •  Avg_Volume  •  VWAP  •  Price_Change  •  YTD_Return  •  Monthly_Return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Measures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SMA_20  •  SMA_50  •  RSI  •  ATR  •  Price_vs_SMA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26080"/>
            <a:ext cx="4023360" cy="4114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Measures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Rolling_Volatility  •  VaR_95  •  Max_Drawdown  •  Sharpe_Ratio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26080"/>
            <a:ext cx="4023360" cy="41148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Measures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Bullish_Days  •  Bearish_Days  •  COT_Alert  •  Supply_Demand  •  Silver_Gold_Ratio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Results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01168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Period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ARIMA (5,1,0)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$7.79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$8.95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28.17%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2020–2025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SMA Baseline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$8.00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$9.15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28.93%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2020–2025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8B22"/>
                          </a:solidFill>
                        </a:rPr>
                        <a:t>ARIMA vs SMA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8B22"/>
                          </a:solidFill>
                        </a:rPr>
                        <a:t>+2.6% better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8B22"/>
                          </a:solidFill>
                        </a:rPr>
                        <a:t>+2.2% better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8B22"/>
                          </a:solidFill>
                        </a:rPr>
                        <a:t>+2.6% better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37360" y="32004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produced flat forecasts (~$18.50) during the 2020 COVID crash. Silver ranged $11.70–$29.64 — proving standard time-series models cannot handle structural breaks without macro/sentiment data.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Price Analytics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19456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2588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325880"/>
            <a:ext cx="6126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 + SMA_20 + SMA_50 overlay (2000–2025)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219456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4708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Chart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847088"/>
            <a:ext cx="6126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trading volume bar chart with date axis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219456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6829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Gauge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368296"/>
            <a:ext cx="6126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scale with 50 target line (current: 50.02)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219456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89504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Slicer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889504"/>
            <a:ext cx="6126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Drag-to-select date range (Jan 2000 – Dec 2025)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10712"/>
            <a:ext cx="219456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10712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Slicer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410712"/>
            <a:ext cx="6126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individual year (radio button list)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219456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Selector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931920"/>
            <a:ext cx="6126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select: 1M, 3M, 6M, 1Y, 5Y, 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453128"/>
            <a:ext cx="219456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45312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Title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453128"/>
            <a:ext cx="6126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title updates with selected period filter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Risk Analytics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560320" cy="5486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Heatmap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46304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× Month matrix — white to navy gradient by Rolling_Volatility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560320" cy="5486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Waterfall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214884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Max_Drawdown by Year — green increase / red decrease bars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2560320" cy="5486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VaR_95 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83464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 Value at Risk displayed as single KPI 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2560320" cy="5486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52044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 drills to daily data on click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2560320" cy="5486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420624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visuals cross-filter — click one chart to filter others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1: Hunt Brothers (1979–1980)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212080" y="1005840"/>
            <a:ext cx="128016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2"/>
          <p:cNvSpPr/>
          <p:nvPr/>
        </p:nvSpPr>
        <p:spPr>
          <a:xfrm>
            <a:off x="5212080" y="1005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$49.45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0" y="1005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price (Jan 18, 1980) — 724% in 12 months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12080" y="1920240"/>
            <a:ext cx="128016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5"/>
          <p:cNvSpPr/>
          <p:nvPr/>
        </p:nvSpPr>
        <p:spPr>
          <a:xfrm>
            <a:off x="5212080" y="1920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$10.80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Thursday crash low (Mar 27, 1980)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12080" y="2834640"/>
            <a:ext cx="128016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$1.7B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Brothers fortune wiped out in days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0" y="3749040"/>
            <a:ext cx="128016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0" y="3749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Rule 7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COMEX banned new long positions (Jan 7, 1980)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2: COVID-19 Crash &amp; Recovery (2020)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05840"/>
            <a:ext cx="137160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0" y="10058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$11.70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78040" y="10058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2020 crash low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0" y="1801368"/>
            <a:ext cx="1371600" cy="658368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18013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$29.64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78040" y="180136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2020 recovery peak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596896"/>
            <a:ext cx="1371600" cy="658368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259689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+153%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78040" y="259689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in 5 months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3392424"/>
            <a:ext cx="1371600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0" y="339242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$4.49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33924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MAE (2020 only)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4187952"/>
            <a:ext cx="137160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41879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$18.63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78040" y="41879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 (missed crash)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Code Quality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228600" cy="822960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097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overlapping dates between train (4,957 days) and test (1,566 days) sets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228600" cy="822960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Unit Tests Passed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057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train/test split, leakage, and metric threshold tests all passed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017520"/>
            <a:ext cx="228600" cy="82296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Compliant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 refactored with docstrings, type hints, and clean naming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977640"/>
            <a:ext cx="2286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977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pandas==2.2.2, numpy==2.0.2, matplotlib==3.10.0, statsmodels==0.14.6, scikit-learn==1.6.1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371600" cy="77724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outperformed SMA baseline (MAE $7.79 vs $8.00, MAPE 28.17% vs 28.93%) but both failed during the COVID structural break — confirming macro and sentiment data are essential for commodity forecasting.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1371600" cy="77724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0574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 successfully delivered 17+ DAX measures across 4 pages with drill-through, bookmarks, What-If parameters, and dynamic titles for CIO-level analytics.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13716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017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30175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ARIMA and SMA were re-validated on Day 14. LSTM and ensemble models show stronger performance (LSTM MAPE 1.31%) but require longer runtime for full validation.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13716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977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9776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CSV imports limit real-time utility. A production system would connect to live price feeds via Bloomberg/Refinitiv APIs.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ensemble model (ARIMA + LSTM + XGBoost + Random Forest) with dynamic weights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18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detection using Hidden Markov Models or CUSUM tests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integration (Bloomberg / Yahoo Finance) for live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4378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concentration index for early manipulation warning signals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deployment using FastAPI for third-party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Cross-commodity extension to gold, platinum, palladium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8229600" cy="36576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Commodity Analytics  |  Zetheta Algorithms Pvt. Ltd.  |  BFSI Internship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Silver Commodity Price Analysis</dc:title>
  <dc:subject>PptxGenJS Presentation</dc:subject>
  <dc:creator>PptxGenJS</dc:creator>
  <cp:lastModifiedBy>PptxGenJS</cp:lastModifiedBy>
  <cp:revision>1</cp:revision>
  <dcterms:created xsi:type="dcterms:W3CDTF">2026-06-05T10:54:18Z</dcterms:created>
  <dcterms:modified xsi:type="dcterms:W3CDTF">2026-06-05T10:54:18Z</dcterms:modified>
</cp:coreProperties>
</file>